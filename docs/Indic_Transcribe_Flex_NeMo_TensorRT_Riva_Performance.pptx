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fa4e9c91fc449a" /><Relationship Type="http://schemas.openxmlformats.org/officeDocument/2006/relationships/extended-properties" Target="/docProps/app.xml" Id="R00815199987946da" /><Relationship Type="http://schemas.openxmlformats.org/officeDocument/2006/relationships/officeDocument" Target="/ppt/presentation.xml" Id="Rb20d83f8680d44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9ae5af6c14817"/>
  </p:sldMasterIdLst>
  <p:notesMasterIdLst>
    <p:notesMasterId xmlns:r="http://schemas.openxmlformats.org/officeDocument/2006/relationships" r:id="R7b5c76192c234933"/>
  </p:notesMasterIdLst>
  <p:sldIdLst>
    <p:sldId xmlns:r="http://schemas.openxmlformats.org/officeDocument/2006/relationships" id="256" r:id="Rb2c304bf8e804410"/>
    <p:sldId xmlns:r="http://schemas.openxmlformats.org/officeDocument/2006/relationships" id="257" r:id="Raac52db3ceda4fea"/>
    <p:sldId xmlns:r="http://schemas.openxmlformats.org/officeDocument/2006/relationships" id="258" r:id="R5bfee3392b8c474c"/>
    <p:sldId xmlns:r="http://schemas.openxmlformats.org/officeDocument/2006/relationships" id="259" r:id="Re358079d0e504ae4"/>
    <p:sldId xmlns:r="http://schemas.openxmlformats.org/officeDocument/2006/relationships" id="260" r:id="Rc830bad670a5462d"/>
    <p:sldId xmlns:r="http://schemas.openxmlformats.org/officeDocument/2006/relationships" id="261" r:id="R6d0ba10c527b4de4"/>
    <p:sldId xmlns:r="http://schemas.openxmlformats.org/officeDocument/2006/relationships" id="262" r:id="R5ba65d2578ad40b7"/>
    <p:sldId xmlns:r="http://schemas.openxmlformats.org/officeDocument/2006/relationships" id="263" r:id="Rd8f66b5f399e47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12a8da7ced480d" /><Relationship Type="http://schemas.openxmlformats.org/officeDocument/2006/relationships/slideMaster" Target="/ppt/slideMasters/slideMaster1.xml" Id="R97c9ae5af6c14817" /><Relationship Type="http://schemas.openxmlformats.org/officeDocument/2006/relationships/notesMaster" Target="/ppt/notesMasters/notesMaster1.xml" Id="R7b5c76192c234933" /><Relationship Type="http://schemas.openxmlformats.org/officeDocument/2006/relationships/presProps" Target="/ppt/presProps.xml" Id="Ra1ed537181b44411" /><Relationship Type="http://schemas.openxmlformats.org/officeDocument/2006/relationships/tableStyles" Target="/ppt/tableStyles.xml" Id="R4d404b4176e04665" /><Relationship Type="http://schemas.openxmlformats.org/officeDocument/2006/relationships/slide" Target="/ppt/slides/slide1.xml" Id="Rb2c304bf8e804410" /><Relationship Type="http://schemas.openxmlformats.org/officeDocument/2006/relationships/slide" Target="/ppt/slides/slide2.xml" Id="Raac52db3ceda4fea" /><Relationship Type="http://schemas.openxmlformats.org/officeDocument/2006/relationships/slide" Target="/ppt/slides/slide3.xml" Id="R5bfee3392b8c474c" /><Relationship Type="http://schemas.openxmlformats.org/officeDocument/2006/relationships/slide" Target="/ppt/slides/slide4.xml" Id="Re358079d0e504ae4" /><Relationship Type="http://schemas.openxmlformats.org/officeDocument/2006/relationships/slide" Target="/ppt/slides/slide5.xml" Id="Rc830bad670a5462d" /><Relationship Type="http://schemas.openxmlformats.org/officeDocument/2006/relationships/slide" Target="/ppt/slides/slide6.xml" Id="R6d0ba10c527b4de4" /><Relationship Type="http://schemas.openxmlformats.org/officeDocument/2006/relationships/slide" Target="/ppt/slides/slide7.xml" Id="R5ba65d2578ad40b7" /><Relationship Type="http://schemas.openxmlformats.org/officeDocument/2006/relationships/slide" Target="/ppt/slides/slide8.xml" Id="Rd8f66b5f399e47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a57b6c537d40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563005e1ad4f03" /><Relationship Type="http://schemas.openxmlformats.org/officeDocument/2006/relationships/notesMaster" Target="/ppt/notesMasters/notesMaster1.xml" Id="Rf6a21be2dc044a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061b861d3247a4" /><Relationship Type="http://schemas.openxmlformats.org/officeDocument/2006/relationships/notesMaster" Target="/ppt/notesMasters/notesMaster1.xml" Id="Rb6138c22d1c743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153ee05f22442f" /><Relationship Type="http://schemas.openxmlformats.org/officeDocument/2006/relationships/notesMaster" Target="/ppt/notesMasters/notesMaster1.xml" Id="Ra86f278aa03a4b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e17b90362946ef" /><Relationship Type="http://schemas.openxmlformats.org/officeDocument/2006/relationships/notesMaster" Target="/ppt/notesMasters/notesMaster1.xml" Id="R3914b5618c6741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0f8a1fa2c047a6" /><Relationship Type="http://schemas.openxmlformats.org/officeDocument/2006/relationships/notesMaster" Target="/ppt/notesMasters/notesMaster1.xml" Id="R20b876bfc19049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0ce41bc56a48d9" /><Relationship Type="http://schemas.openxmlformats.org/officeDocument/2006/relationships/notesMaster" Target="/ppt/notesMasters/notesMaster1.xml" Id="R3b63a7239d2c4a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ace4d6ac2a4b5e" /><Relationship Type="http://schemas.openxmlformats.org/officeDocument/2006/relationships/notesMaster" Target="/ppt/notesMasters/notesMaster1.xml" Id="R380b08e21e6443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991b33c3604956" /><Relationship Type="http://schemas.openxmlformats.org/officeDocument/2006/relationships/notesMaster" Target="/ppt/notesMasters/notesMaster1.xml" Id="R23045a93b4bb47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measured deployment artifacts under /home/nvidia/indic-transcribe-optimization/data-latest and the Indic-Transcribe Flex model card at https://huggingface.co/bodhan-ai/indic-transcribe-flex. The 536.54 RTFX figure is the median of two one-pass runs for 15-second audio at concurrency 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facts source: https://huggingface.co/bodhan-ai/indic-transcribe-flex. Deployment restore source: /home/nvidia/indic-transcribe-optimization/data-latest/nemo_validation_report.json. Exact restored parameter count: 1,221,439,472. Encoder: 32-layer FastConformer. Decoder: 24-layer Transformer. Vocabulary: 7,152.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NeMo.zip workflow and verified artifacts under /home/nvidia/indic-transcribe-optimization/data-latest. Reports: hf_to_nemo_report.json, nemo_validation_report.json, and trt_encoder_validation_report.json. Container image: nvcr.io/nim/nvidia/canary-1b:latest.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Triton model statistics, model configuration, BLS implementation, and final benchmark logs in /home/nvidia/indic-transcribe-optimization/data-latest. The batching split occurred at the client or Riva front-end boundary. The final BLS coalesces requests within each execute list but cannot merge separate front-end waves.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/home/nvidia/indic-transcribe-optimization/data-latest/dataset/chunk_sweep/prepare_summary.json and sweep_summary.json. The source set contains 64 IndicVoices clips and 442.808 seconds of audio. The 1-second pool contains 442 exact chunks. The 5-second pool contains 88 exact chunks. The 15-second pool contains 29 exact chunks.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/home/nvidia/indic-transcribe-optimization/data-latest/dataset/chunk_sweep/sweep_summary.json. Values are medians of two trials. Concurrency-256 medians: 1 second 173.285 RTFX, 5 seconds 216.895 RTFX, full clips 410.05 RTFX, and 15 seconds 536.54 RTFX.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/home/nvidia/indic-transcribe-optimization/data-latest/dataset/hi64/256_indicvoices_sustained_indic_flex_nim_riva_trt.json and chunk_sweep/integrity_summary.json. Sustained client settings: concurrency 64 and four iterations. The 64-file and sustained 256-response checks each had zero mismatches against the Flex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Improvement scope is a proposed plan based on observed batching, memory, and short-clip overhead. Model limitations source: https://huggingface.co/bodhan-ai/indic-transcribe-flex. No projected speedup is presented as measured. Preserve transcript parity and add per-language WER before production adoption.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22c6c7a6e45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ea6c7d7316405c" /><Relationship Type="http://schemas.openxmlformats.org/officeDocument/2006/relationships/slideLayout" Target="/ppt/slideLayouts/slideLayout1.xml" Id="R52a92e412ccc4d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a92e412ccc4d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8745eba9c4632" /><Relationship Type="http://schemas.openxmlformats.org/officeDocument/2006/relationships/notesSlide" Target="/ppt/notesSlides/notesSlide1.xml" Id="R588a6f22429f4a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53413dd5e4ad2" /><Relationship Type="http://schemas.openxmlformats.org/officeDocument/2006/relationships/notesSlide" Target="/ppt/notesSlides/notesSlide2.xml" Id="R515d0ad2326747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0d19e10af49b3" /><Relationship Type="http://schemas.openxmlformats.org/officeDocument/2006/relationships/notesSlide" Target="/ppt/notesSlides/notesSlide3.xml" Id="Rfec83f4922e94a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03f60b19b4e33" /><Relationship Type="http://schemas.openxmlformats.org/officeDocument/2006/relationships/notesSlide" Target="/ppt/notesSlides/notesSlide4.xml" Id="Rc3a35a0fc9c243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c2379599a42a3" /><Relationship Type="http://schemas.openxmlformats.org/officeDocument/2006/relationships/notesSlide" Target="/ppt/notesSlides/notesSlide5.xml" Id="Rb891b1ed0f954e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9ac1e7da743c9" /><Relationship Type="http://schemas.openxmlformats.org/officeDocument/2006/relationships/chart" Target="/ppt/slides/charts/chart1.xml" Id="R989b2aae49b341bd" /><Relationship Type="http://schemas.openxmlformats.org/officeDocument/2006/relationships/notesSlide" Target="/ppt/notesSlides/notesSlide6.xml" Id="R92575c3b803941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7d59b22d94700" /><Relationship Type="http://schemas.openxmlformats.org/officeDocument/2006/relationships/notesSlide" Target="/ppt/notesSlides/notesSlide7.xml" Id="Rcea21fbee01742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b6b828ebc4f2f" /><Relationship Type="http://schemas.openxmlformats.org/officeDocument/2006/relationships/notesSlide" Target="/ppt/notesSlides/notesSlide8.xml" Id="R2ae28eef7d3e48b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Concurrency 64</c:v>
          </c:tx>
          <c:spPr>
            <a:solidFill xmlns:a="http://schemas.openxmlformats.org/drawingml/2006/main">
              <a:srgbClr val="9AA39A"/>
            </a:solidFill>
          </c:spPr>
          <c:cat>
            <c:strRef>
              <c:f>'Chart Data'!$A$2:$A$5</c:f>
              <c:strCache>
                <c:ptCount val="4"/>
                <c:pt idx="0">
                  <c:v>1 s</c:v>
                </c:pt>
                <c:pt idx="1">
                  <c:v>5 s</c:v>
                </c:pt>
                <c:pt idx="2">
                  <c:v>Full
6.92 s avg</c:v>
                </c:pt>
                <c:pt idx="3">
                  <c:v>15 s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118.41</c:v>
                </c:pt>
                <c:pt idx="1">
                  <c:v>138.76</c:v>
                </c:pt>
                <c:pt idx="2">
                  <c:v>275.15</c:v>
                </c:pt>
                <c:pt idx="3">
                  <c:v>392.68</c:v>
                </c:pt>
              </c:numCache>
            </c:numRef>
          </c:val>
        </c:ser>
        <c:ser>
          <c:idx val="1"/>
          <c:order val="1"/>
          <c:tx>
            <c:v>Concurrency 128</c:v>
          </c:tx>
          <c:spPr>
            <a:solidFill xmlns:a="http://schemas.openxmlformats.org/drawingml/2006/main">
              <a:srgbClr val="315B18"/>
            </a:solidFill>
          </c:spPr>
          <c:cat>
            <c:strRef>
              <c:f>'Chart Data'!$C$2:$C$5</c:f>
              <c:strCache>
                <c:ptCount val="4"/>
                <c:pt idx="0">
                  <c:v>1 s</c:v>
                </c:pt>
                <c:pt idx="1">
                  <c:v>5 s</c:v>
                </c:pt>
                <c:pt idx="2">
                  <c:v>Full
6.92 s avg</c:v>
                </c:pt>
                <c:pt idx="3">
                  <c:v>15 s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147.08</c:v>
                </c:pt>
                <c:pt idx="1">
                  <c:v>175.2</c:v>
                </c:pt>
                <c:pt idx="2">
                  <c:v>346.65</c:v>
                </c:pt>
                <c:pt idx="3">
                  <c:v>471.03</c:v>
                </c:pt>
              </c:numCache>
            </c:numRef>
          </c:val>
        </c:ser>
        <c:ser>
          <c:idx val="2"/>
          <c:order val="2"/>
          <c:tx>
            <c:v>Concurrency 256</c:v>
          </c:tx>
          <c:spPr>
            <a:solidFill xmlns:a="http://schemas.openxmlformats.org/drawingml/2006/main">
              <a:srgbClr val="76B900"/>
            </a:solidFill>
          </c:spPr>
          <c:cat>
            <c:strRef>
              <c:f>'Chart Data'!$E$2:$E$5</c:f>
              <c:strCache>
                <c:ptCount val="4"/>
                <c:pt idx="0">
                  <c:v>1 s</c:v>
                </c:pt>
                <c:pt idx="1">
                  <c:v>5 s</c:v>
                </c:pt>
                <c:pt idx="2">
                  <c:v>Full
6.92 s avg</c:v>
                </c:pt>
                <c:pt idx="3">
                  <c:v>15 s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173.29</c:v>
                </c:pt>
                <c:pt idx="1">
                  <c:v>216.9</c:v>
                </c:pt>
                <c:pt idx="2">
                  <c:v>410.05</c:v>
                </c:pt>
                <c:pt idx="3">
                  <c:v>536.54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VIDIA Sans"/>
                  <a:ea typeface="NVIDIA Sans"/>
                  <a:cs typeface="NVIDIA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DD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DD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0C120C"/>
              </a:solidFill>
              <a:latin typeface="NVIDIA Sans"/>
              <a:ea typeface="NVIDIA Sans"/>
              <a:cs typeface="NVIDIA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7C9A8-31DF-4367-8680-B3856708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E134F-75D9-44DC-83A5-BEE4D82B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5825"/>
            <a:ext cx="10477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C99E5-E87B-4999-9499-B38E2620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75" b="1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NVIDIA GPU INFERENCE TECHNICAL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03EC4-55B0-4BC6-8C71-2D9A9715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733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4350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Indic-Transcribe Flex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79F11-D15F-4104-B5C2-B1655ADC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4F000"/>
                </a:solidFill>
                <a:latin typeface="NVIDIA Sans"/>
                <a:ea typeface="NVIDIA Sans"/>
                <a:cs typeface="NVIDIA Sans"/>
              </a:defRPr>
            </a:pPr>
            <a:r>
              <a:rPr sz="2175" b="0">
                <a:solidFill>
                  <a:srgbClr val="B4F000"/>
                </a:solidFill>
                <a:latin typeface="NVIDIA Sans"/>
                <a:ea typeface="NVIDIA Sans"/>
                <a:cs typeface="NVIDIA Sans"/>
              </a:rPr>
              <a:t>NeMo, TensorRT, and Riva optimization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B7C23-7E4F-45F2-959E-D9F4CF54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57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Verified conversion, serving architecture, benchmark results, and improvement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47575-CCA2-45E8-9274-30E49ADB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27"/>
          </a:bodyPr>
          <a:lstStyle xmlns:a="http://schemas.openxmlformats.org/drawingml/2006/main"/>
          <a:p xmlns:a="http://schemas.openxmlformats.org/drawingml/2006/main">
            <a:pPr algn="r">
              <a:defRPr sz="510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510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536.54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4D151-940B-424A-987E-46D9A016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85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best measured one-pass RTFX</a:t>
            </a:r>
          </a:p>
          <a:p xmlns:a="http://schemas.openxmlformats.org/drawingml/2006/main">
            <a:pPr algn="r">
              <a:def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15-second audio at concurrency 256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92C3B-265A-4F77-90CF-82D49A5A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75143-52D1-468E-BA8C-B3BF752A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Brev: minimum-fuchsia-mule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D6752-F493-4E96-A2B7-E2FA3641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Host inventory: 2 NVIDIA H100 NVL GPUs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D9C5D-BF4A-4399-883E-490CB39F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10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09167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1B0C94-0861-4A3A-A5A3-CBB26467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2550" b="1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Indic-Transcribe Flex model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B5247-B9DF-4282-8A45-FB9FACEB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B2034-211D-49D1-9766-5A70B517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1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843B4-5CF1-43CF-9A2F-54144DB1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5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A 1.221B-parameter Canary-2 sequence-to-sequence ASR model for 27 Indian languages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26A73-B749-4F9A-8FB7-3488F042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431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B873F-ABAB-4D38-98EF-919E19D8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66925"/>
            <a:ext cx="1838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425" b="1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16 kHz mono audio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DCF1D-4A9C-4A1B-ABF6-C0412C99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838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Language and output-mode task tokens condition decoding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47C2D-41C2-49DC-B420-5E55B258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38125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5F0"/>
          </a:solidFill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66649-2D45-4920-AB8C-C0CC5F61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669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425" b="1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FastConformer encoder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E02D4-8581-427D-9989-EAE65723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0030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32 layers</a:t>
            </a:r>
          </a:p>
          <a:p xmlns:a="http://schemas.openxmlformats.org/drawingml/2006/main">
            <a:pPr algn="l">
              <a:def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811M parameters</a:t>
            </a:r>
          </a:p>
          <a:p xmlns:a="http://schemas.openxmlformats.org/drawingml/2006/main">
            <a:pPr algn="l">
              <a:def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1024 hidden 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B9F08-5076-43A3-9C56-E1032745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952625"/>
            <a:ext cx="238125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5F0"/>
          </a:solidFill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E3784-C8BD-4D45-8444-58C55D21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669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425" b="1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Transformer decoder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C8C85-B308-473C-AB17-37C1B400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00300"/>
            <a:ext cx="2076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24 layers</a:t>
            </a:r>
          </a:p>
          <a:p xmlns:a="http://schemas.openxmlformats.org/drawingml/2006/main">
            <a:pPr algn="l">
              <a:def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419M parameters</a:t>
            </a:r>
          </a:p>
          <a:p xmlns:a="http://schemas.openxmlformats.org/drawingml/2006/main">
            <a:pPr algn="l">
              <a:def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1024 hidden 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9F406-EC68-48F5-BFE2-FEFDDF0B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52625"/>
            <a:ext cx="2333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F5D26-E117-4699-AA40-6EAED56D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66925"/>
            <a:ext cx="2028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425" b="1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Text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25B63-1C90-4852-B2B7-9F6F3723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00300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Native script</a:t>
            </a:r>
          </a:p>
          <a:p xmlns:a="http://schemas.openxmlformats.org/drawingml/2006/main">
            <a:pPr algn="l">
              <a:def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Mixed script</a:t>
            </a:r>
          </a:p>
          <a:p xmlns:a="http://schemas.openxmlformats.org/drawingml/2006/main">
            <a:pPr algn="l">
              <a:def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Romanized text</a:t>
            </a:r>
          </a:p>
        </p:txBody>
      </p:sp>
      <p:cxnSp>
        <p:nvCxnSpPr>
          <p:cNvPr id="47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28925" y="259556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B900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667375" y="259556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B900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505825" y="259556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B900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DB3BB-A489-4ACD-80E1-CBC745C6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33BC9-D936-4404-8F9A-05762B31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27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38677-61E0-4E1F-BBEA-D069241F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supported languages</a:t>
            </a:r>
          </a:p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including Indian English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85824-4582-4003-9CC8-AB9ADC79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7,152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9536A7-AFCA-4E37-A340-77D6F12F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token vocabulary</a:t>
            </a:r>
          </a:p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1,152 task and special tokens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1CCC5-DF60-4531-AA78-13597BFD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71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B20DA-70BC-45E0-925A-5F37D99B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434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selectable transcript modes</a:t>
            </a:r>
          </a:p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plus language identification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4FBEB5-860A-4716-9B09-013E9BF1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719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1.221B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D2AAA-58A3-4480-B005-58A1651C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434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4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restored parameter count</a:t>
            </a:r>
          </a:p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from the verified NeMo archive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AB7550-BAC6-4703-B733-4F64266C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013F26-64C7-464A-8D3E-807B6B8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97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Base architecture: nvidia/canary-1b-v2. Deployment uses the Flex checkpoint and tokenizer assets.</a:t>
            </a:r>
          </a:p>
        </p:txBody>
      </p:sp>
    </p:spTree>
    <p:extLst>
      <p:ext uri="{BB962C8B-B14F-4D97-AF65-F5344CB8AC3E}">
        <p14:creationId xmlns:p14="http://schemas.microsoft.com/office/powerpoint/2010/main" val="1722867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D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8800CA-A0DB-4BE3-84FE-1F26B428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2550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Verified conversion and deployment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4517A-62CE-43A7-A937-B4BA4B2B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F75B2-8DC6-48AE-A447-0F548ABC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00" b="1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49DA6-03B3-4C95-91F4-FC0CBEED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500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The workflow preserved checkpoint identity before replacing inference components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70716-B5DA-408C-A3C5-CCF16EF5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6002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71D17"/>
          </a:solidFill>
          <a:ln xmlns:a="http://schemas.openxmlformats.org/drawingml/2006/main" w="9525">
            <a:solidFill>
              <a:srgbClr val="39463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4A483-ECBA-4A78-9A58-E499BFC1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66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3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F000"/>
                </a:solidFill>
                <a:latin typeface="NVIDIA Sans"/>
                <a:ea typeface="NVIDIA Sans"/>
                <a:cs typeface="NVIDIA Sans"/>
              </a:defRPr>
            </a:pPr>
            <a:r>
              <a:rPr sz="1425" b="1">
                <a:solidFill>
                  <a:srgbClr val="B4F000"/>
                </a:solidFill>
                <a:latin typeface="NVIDIA Sans"/>
                <a:ea typeface="NVIDIA Sans"/>
                <a:cs typeface="NVIDIA Sans"/>
              </a:rPr>
              <a:t>HF checkpoint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23FFC-1E15-4C1C-A308-F424B27D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29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Safetensors</a:t>
            </a:r>
          </a:p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custom model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4CC8E-6E5D-4847-A835-A545742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16002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71D17"/>
          </a:solidFill>
          <a:ln xmlns:a="http://schemas.openxmlformats.org/drawingml/2006/main" w="9525">
            <a:solidFill>
              <a:srgbClr val="39463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9588B-66D1-454E-9368-353E6D28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66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2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425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NeMo archive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11A6F-CC66-43DB-B4B5-9AF00EB8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00300"/>
            <a:ext cx="129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EncDecMultiTaskModel</a:t>
            </a:r>
          </a:p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.nemo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D61FB-0E53-4D99-A02D-9E8848F9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16002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71D17"/>
          </a:solidFill>
          <a:ln xmlns:a="http://schemas.openxmlformats.org/drawingml/2006/main" w="9525">
            <a:solidFill>
              <a:srgbClr val="3946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3544C-EBD3-44CA-92CF-C71C79D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66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425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Riva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0501C-FB8F-47EB-B86F-43E72573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129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nemo2riva</a:t>
            </a:r>
          </a:p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.riva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65C32-BC24-4FF4-95F5-800CC870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16002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71D17"/>
          </a:solidFill>
          <a:ln xmlns:a="http://schemas.openxmlformats.org/drawingml/2006/main" w="9525">
            <a:solidFill>
              <a:srgbClr val="39463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1D031-7535-49AD-BF60-90FA72A9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7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425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TensorRT engines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264A5-7590-4B99-A939-829824D6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129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Encoder plan</a:t>
            </a:r>
          </a:p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TensorRT-LLM decoder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E4E78-E3C2-487D-AF9F-ADF90AB8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16002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71D17"/>
          </a:solidFill>
          <a:ln xmlns:a="http://schemas.openxmlformats.org/drawingml/2006/main" w="9525">
            <a:solidFill>
              <a:srgbClr val="3946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58F8A-F188-4351-A020-8BC0AB03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66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425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RMIR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E50E2-24A9-4C89-AC00-026BDB10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129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riva-build</a:t>
            </a:r>
          </a:p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model repository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1028A-40C6-41B3-AEC4-F72AE8C3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952625"/>
            <a:ext cx="16002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71D17"/>
          </a:solidFill>
          <a:ln xmlns:a="http://schemas.openxmlformats.org/drawingml/2006/main" w="9525">
            <a:solidFill>
              <a:srgbClr val="39463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E03B8-3DF6-4125-AFEB-F05E5617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669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F000"/>
                </a:solidFill>
                <a:latin typeface="NVIDIA Sans"/>
                <a:ea typeface="NVIDIA Sans"/>
                <a:cs typeface="NVIDIA Sans"/>
              </a:defRPr>
            </a:pPr>
            <a:r>
              <a:rPr sz="1425" b="1">
                <a:solidFill>
                  <a:srgbClr val="B4F000"/>
                </a:solidFill>
                <a:latin typeface="NVIDIA Sans"/>
                <a:ea typeface="NVIDIA Sans"/>
                <a:cs typeface="NVIDIA Sans"/>
              </a:rPr>
              <a:t>Serving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EBAB1-3A17-4B35-B71D-84213188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00300"/>
            <a:ext cx="1295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riva-deploy</a:t>
            </a:r>
          </a:p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Riva and Triton</a:t>
            </a:r>
          </a:p>
        </p:txBody>
      </p:sp>
      <p:cxnSp>
        <p:nvCxnSpPr>
          <p:cNvPr id="6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52650" y="2533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B900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76700" y="2533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B900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000750" y="2533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B900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924800" y="2533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B900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848850" y="2533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B900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30C6BE-284F-42F1-AC55-8A216DFB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725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Validation gates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9777C8-2895-4422-BBB0-483A6C3E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1275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Checkpoint mapping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2E3C62-3794-4D00-88A8-1E10A435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4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1,923 tensors checked with zero missing, unequal, unexpected, or shape-mismatched tensors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A01B87-E229-4FD8-9BB0-778E4EF0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6155DF-4392-4845-8BA8-F47A9AA4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1275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NeMo restore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6CA572-E8FD-4A08-BC95-5DB6BBDC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863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32 encoder layers, 24 decoder layers, exact tied LM head, BOS 4, EOS 3, PAD 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A81FEE-9757-48B4-9B51-4263148D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F85B2F-BA6E-4D80-B996-A4EBB89E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1275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Engine and service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44406F-9DCF-492F-B2D5-B09B4699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Finite TensorRT encoder output, deployed model repository, Riva and Triton health checks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2BD691-B5BB-42AC-86E6-CBDCD0B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819B18-05ED-40CE-9D74-5A3737A6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97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Runtime: Riva 2.24.0, NeMo 2.8.0rc0, TensorRT 10.13.2.6, TensorRT-LLM 1.1.0, Torch 2.8.0</a:t>
            </a:r>
          </a:p>
        </p:txBody>
      </p:sp>
    </p:spTree>
    <p:extLst>
      <p:ext uri="{BB962C8B-B14F-4D97-AF65-F5344CB8AC3E}">
        <p14:creationId xmlns:p14="http://schemas.microsoft.com/office/powerpoint/2010/main" val="1059439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126BB-A0D6-44A7-9C5A-439EBD57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2550" b="1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Serving bottlenecks and final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72E58-986C-40EA-9CC1-E7A88E9C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AD08B-4BB7-4288-A65B-9B934AFF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1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478D3-513C-49F1-A588-15C4D86F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5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Triton counters separated client and front-end fragmentation from GPU engine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80CB0-50B3-473D-A752-BB7E227F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725" b="1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Observed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AAFC3-74E9-43E2-A0F1-D6320A75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05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725" b="1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Final serving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41A96-F426-4BE3-A4A2-F866F86C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BATCHING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BE7BE-344D-4FE8-B908-8062DE91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Riva sometimes split a concurrency-64 wave into request groups such as 1 and 63.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73034-E533-406D-831B-E78D0036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B9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A3903-649D-48C2-8E81-A8091FEB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7650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The custom BLS coalesces each Triton execute list into one GPU batch. Triton batch_stats remains the source of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84DAE-55F3-4CD4-87E7-52274557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B3875-DF51-4720-B926-31C02F12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1636F-0BE9-4165-BB17-ADEE3879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2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A 0.9 TensorRT-LLM KV-cache reservation reduced headroom and triggered instability during repeated runs.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F3AC9-0B69-4543-B2E3-2654E5EB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004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B9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6AD74-0409-4215-8D5E-58A65D5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385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KV-cache free-memory fraction set to 0.3. Stale clients must exit before server restart or engine reload.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AB63B-7479-4DAD-8065-C9ABD147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45B3F-E276-49E1-9B8B-4120702B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SCHEDULER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FD433-4374-4A6F-A86D-20B9D302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2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Mixed request arrival timing produced small partial batches before the full concurrency wave reached Triton.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65256-C2E8-43CE-997E-B3B3F091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B9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E5011-715D-494C-9707-AFBA8851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0060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Preferred dynamic batches set to 32 and 64 with a 1 ms queue delay. Engine batch profile supports 64.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139CF-FD12-4015-B52B-417B3436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191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0D0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551A2-6977-4362-9C15-EA0C673D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150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125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Interpretation: architecture equivalence does not guarantee identical RTFX when request grouping, transport, and cache policy differ.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8FBA1-932B-4D88-89B8-D41ECE7F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3844B5-1358-41A9-BEAD-D7F02A4F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97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No isolated speedup is assigned to one setting because the final configuration changed multiple serving-layer variables.</a:t>
            </a:r>
          </a:p>
        </p:txBody>
      </p:sp>
    </p:spTree>
    <p:extLst>
      <p:ext uri="{BB962C8B-B14F-4D97-AF65-F5344CB8AC3E}">
        <p14:creationId xmlns:p14="http://schemas.microsoft.com/office/powerpoint/2010/main" val="1014672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422C6-019E-4716-A52B-27303877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2550" b="1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Benchmark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9A867-D14B-473B-AD5A-2F17BAB7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09FB1-FE38-42BB-8071-44A84947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1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21EF7-ACF1-4B38-9897-6B75B3D1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5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Each cell uses one client iteration, N manifest rows, N parallel requests, and two measured trials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28384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85875"/>
                <a:gridCol w="4238625"/>
                <a:gridCol w="1619250"/>
                <a:gridCol w="1714500"/>
                <a:gridCol w="1962150"/>
              </a:tblGrid>
              <a:tr h="5676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Workload</a:t>
                      </a:r>
                    </a:p>
                  </a:txBody>
                  <a:tcPr marL="91440" marR="91440" marT="45720" marB="45720">
                    <a:solidFill>
                      <a:srgbClr val="090D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64-request base construction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Audio at c64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Audio at c128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Audio at c256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1 second</a:t>
                      </a:r>
                    </a:p>
                  </a:txBody>
                  <a:tcPr marL="91440" marR="91440" marT="45720" marB="45720">
                    <a:solidFill>
                      <a:srgbClr val="DCEB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64 evenly spaced chunks from a pool of 442 exact chunks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64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128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256 s</a:t>
                      </a:r>
                    </a:p>
                  </a:txBody>
                  <a:tcPr marL="91440" marR="91440" marT="45720" marB="45720"/>
                </a:tc>
              </a:tr>
              <a:tr h="5676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5 seconds</a:t>
                      </a:r>
                    </a:p>
                  </a:txBody>
                  <a:tcPr marL="91440" marR="91440" marT="45720" marB="45720">
                    <a:solidFill>
                      <a:srgbClr val="DCEB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64 evenly spaced chunks from a pool of 88 exact chunks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320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640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1,280 s</a:t>
                      </a:r>
                    </a:p>
                  </a:txBody>
                  <a:tcPr marL="91440" marR="91440" marT="45720" marB="45720"/>
                </a:tc>
              </a:tr>
              <a:tr h="5676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Full clips</a:t>
                      </a:r>
                    </a:p>
                  </a:txBody>
                  <a:tcPr marL="91440" marR="91440" marT="45720" marB="45720">
                    <a:solidFill>
                      <a:srgbClr val="DCEB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Original 64 IndicVoices clips, average duration 6.92 seconds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442.8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885.6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1,771.2 s</a:t>
                      </a:r>
                    </a:p>
                  </a:txBody>
                  <a:tcPr marL="91440" marR="91440" marT="45720" marB="45720"/>
                </a:tc>
              </a:tr>
              <a:tr h="5676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15 seconds</a:t>
                      </a:r>
                    </a:p>
                  </a:txBody>
                  <a:tcPr marL="91440" marR="91440" marT="45720" marB="45720">
                    <a:solidFill>
                      <a:srgbClr val="DCEB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29 exact chunks cycled to form a deterministic base of 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960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1,920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3,840 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D466C-1F39-4A4C-BD6D-C5B9C2FC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RTFX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2C9A2-E435-4556-9CBC-D1F6D1C6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44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total audio seconds divided by client run time</a:t>
            </a:r>
          </a:p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higher is better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594E2-62EA-455E-9C92-0643FDC7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006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90189-741F-4110-9CEA-5D964C2F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721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unique base items</a:t>
            </a:r>
          </a:p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repeated twice or four times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EBDE4-D6CF-4B5E-AFAE-677F92BD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006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330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AE139-6B52-4F23-BD83-34DDBF5F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721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measured trials</a:t>
            </a:r>
          </a:p>
          <a:p xmlns:a="http://schemas.openxmlformats.org/drawingml/2006/main">
            <a:pPr algn="l">
              <a:def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per duration and concurrency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B27F4-81C1-4DFD-9A8D-EA69DD98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85BA3-46A6-48A3-A71D-6DA64B2B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97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Chunk sweeps measure serving throughput. Concatenated chunks can cross utterance boundaries and do not form an accuracy benchmark.</a:t>
            </a:r>
          </a:p>
        </p:txBody>
      </p:sp>
    </p:spTree>
    <p:extLst>
      <p:ext uri="{BB962C8B-B14F-4D97-AF65-F5344CB8AC3E}">
        <p14:creationId xmlns:p14="http://schemas.microsoft.com/office/powerpoint/2010/main" val="74290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A2040-5337-4ACC-A8D4-EC9F661C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2550" b="1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Throughput rises with concurrency and clip duration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B1DB0-E914-4F73-8921-CAE79028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12503-D3E6-4838-8F9A-12C38F5C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1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C2687-136C-4F17-BF7D-BD949E8E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5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Median RTFX across two one-pass trials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14350" y="1752600"/>
          <a:ext xmlns:a="http://schemas.openxmlformats.org/drawingml/2006/main" cx="79533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9b2aae49b341b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79F73-E9D8-4C0C-BE90-25512E5D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62125"/>
            <a:ext cx="2647950" cy="400050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090D0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8CAA8-F2C6-45FD-8B17-3F117FEC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83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18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3675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536.54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A253F-5266-49F7-8097-94DE25C4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765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RTFX at 15 seconds</a:t>
            </a:r>
          </a:p>
          <a:p xmlns:a="http://schemas.openxmlformats.org/drawingml/2006/main">
            <a:pPr algn="l">
              <a:def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and concurrency 256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8EE6F-B350-4785-A2BB-721AF75C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6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94753-0061-4EE8-A28B-8060E936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0997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2925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173.29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F774A-BD79-4701-B0D3-F18B48A2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RTFX at 1 second</a:t>
            </a:r>
          </a:p>
          <a:p xmlns:a="http://schemas.openxmlformats.org/drawingml/2006/main">
            <a:pPr algn="l">
              <a:def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and concurrency 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E2489-DFC6-4655-9DB2-01875F58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720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4F000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B4F000"/>
                </a:solidFill>
                <a:latin typeface="NVIDIA Sans"/>
                <a:ea typeface="NVIDIA Sans"/>
                <a:cs typeface="NVIDIA Sans"/>
              </a:rPr>
              <a:t>Short clips expose fixed request and decoder overhead. Longer clips amortize that cost over more audio.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30251-C06F-4C91-BA37-D5EDB624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B093A-721B-4423-A752-309E35C6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97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RTFX measures throughput, not response latency. The reported points use the same client and server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932766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D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A492F3-A4A5-400E-A534-E9DB23D0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2550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Sustained throughput with transcript parity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D71B1-2E42-4F28-9522-0DB0CE6A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40C9E-289F-46AD-8BB5-68627268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200" b="1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E1AD9-B9CD-4554-A006-8D793E89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500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A separate four-iteration workload measured steady-state behavior at concurrency 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1ABE3-BD40-497D-AE44-A77E3CC3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95"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6225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488.05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322AC-4615-4027-A58B-791C5A73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875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RTFX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6C318-FDCD-4FA3-8215-F2291B80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350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1,771.2 audio seconds processed in 3.6292 seconds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38171-F3F7-46C1-A156-76C7F327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350" b="0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Median latency 903.65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BC855-D88D-4E77-8182-C79F4991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350" b="0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P95 latency 1,005.5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AF67A-64C7-438F-A25A-B1244EFB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5737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63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5C3C0-B276-4F57-873D-08A7A3EE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CHECKPOINT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7EF9B-09C0-462F-9F13-4BC18B74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383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2400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1,923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E9ADA-CEA0-44BD-99C6-DF71B6DE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573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source tensors verified</a:t>
            </a:r>
          </a:p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with zero mapping differences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525B0-7148-4383-A595-B7081FD1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0325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63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B1FAC-CB2A-48BD-B8FD-9B4312E3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479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TRANSCRIPTS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C0C46-CFC9-472A-A251-79C783AA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289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2400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24D4B-91EF-4016-92D1-B89447C0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479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8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mismatches in the 64-output</a:t>
            </a:r>
          </a:p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and sustained 256-output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5C782-C802-4E33-AFE3-32FB52D4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90925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63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4F64D-E31C-4307-92F1-7CF1A5A0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38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defRPr>
            </a:pPr>
            <a:r>
              <a:rPr sz="1050" b="1">
                <a:solidFill>
                  <a:srgbClr val="76B900"/>
                </a:solidFill>
                <a:latin typeface="NVIDIA Sans"/>
                <a:ea typeface="NVIDIA Sans"/>
                <a:cs typeface="NVIDIA Sans"/>
              </a:rPr>
              <a:t>ONE-SECOND SWEEP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4406B-A4E7-40F3-A488-A89A0B57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195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2400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896 / 896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3C0A5-7ECF-40C1-9401-C1073813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385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85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responses present and nonempty</a:t>
            </a:r>
          </a:p>
          <a:p xmlns:a="http://schemas.openxmlformats.org/drawingml/2006/main">
            <a:pPr algn="l">
              <a:def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112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with deterministic repeated trials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F43BE-C011-4AA1-A65B-F8BA4B8F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744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D17"/>
          </a:solidFill>
          <a:ln xmlns:a="http://schemas.openxmlformats.org/drawingml/2006/main" w="9525">
            <a:solidFill>
              <a:srgbClr val="39463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60E89-0C1C-455D-B99F-21B463FA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F000"/>
                </a:solidFill>
                <a:latin typeface="NVIDIA Sans"/>
                <a:ea typeface="NVIDIA Sans"/>
                <a:cs typeface="NVIDIA Sans"/>
              </a:defRPr>
            </a:pPr>
            <a:r>
              <a:rPr sz="1275" b="1">
                <a:solidFill>
                  <a:srgbClr val="B4F000"/>
                </a:solidFill>
                <a:latin typeface="NVIDIA Sans"/>
                <a:ea typeface="NVIDIA Sans"/>
                <a:cs typeface="NVIDIA Sans"/>
              </a:rPr>
              <a:t>Measurement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C2FC34-D2C2-4283-8A84-E57065CA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625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275" b="0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The sustained result reuses the same client and server across four iterations. Compare it with other steady-state runs, not directly with one-pass chunk sweeps.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4B0729-5A41-4627-904E-F0FDCC14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051D8-F389-4508-905C-DA04CA43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1A5"/>
                </a:solidFill>
                <a:latin typeface="NVIDIA Sans"/>
                <a:ea typeface="NVIDIA Sans"/>
                <a:cs typeface="NVIDIA Sans"/>
              </a:defRPr>
            </a:pPr>
            <a:r>
              <a:rPr sz="975" b="0">
                <a:solidFill>
                  <a:srgbClr val="A8B1A5"/>
                </a:solidFill>
                <a:latin typeface="NVIDIA Sans"/>
                <a:ea typeface="NVIDIA Sans"/>
                <a:cs typeface="NVIDIA Sans"/>
              </a:rPr>
              <a:t>The deployed container remained healthy after the sweep. Triton health returned HTTP 200.</a:t>
            </a:r>
          </a:p>
        </p:txBody>
      </p:sp>
    </p:spTree>
    <p:extLst>
      <p:ext uri="{BB962C8B-B14F-4D97-AF65-F5344CB8AC3E}">
        <p14:creationId xmlns:p14="http://schemas.microsoft.com/office/powerpoint/2010/main" val="871102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48E5D-AC65-42AE-844E-6A74D764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C120C"/>
                </a:solidFill>
                <a:latin typeface="NVIDIA Sans"/>
                <a:ea typeface="NVIDIA Sans"/>
                <a:cs typeface="NVIDIA Sans"/>
              </a:defRPr>
            </a:pPr>
            <a:r>
              <a:rPr sz="2550" b="1">
                <a:solidFill>
                  <a:srgbClr val="0C120C"/>
                </a:solidFill>
                <a:latin typeface="NVIDIA Sans"/>
                <a:ea typeface="NVIDIA Sans"/>
                <a:cs typeface="NVIDIA Sans"/>
              </a:rPr>
              <a:t>Improvement scope and validation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21765-B24D-49FA-8E83-EB77EA0C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C50F7-464F-41D7-BA8D-5BF139BC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200" b="1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4FCBF-5680-421D-8F8D-5EF4268C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1500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The next gains should target serving overhead and scale-out before changing model quality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47750"/>
                <a:gridCol w="2476500"/>
                <a:gridCol w="3524250"/>
                <a:gridCol w="3771900"/>
              </a:tblGrid>
              <a:tr h="7048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Priority</a:t>
                      </a:r>
                    </a:p>
                  </a:txBody>
                  <a:tcPr marL="91440" marR="91440" marT="45720" marB="45720">
                    <a:solidFill>
                      <a:srgbClr val="090D0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Scope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Performance hypothesis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Acceptance gate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P1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Short-clip request path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Reduce Riva, gRPC, and Python BLS overhead that dominates 1-second workloads.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Raise c256 RTFX without increasing P95 latency or changing transcripts.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P2</a:t>
                      </a:r>
                    </a:p>
                  </a:txBody>
                  <a:tcPr marL="91440" marR="91440" marT="45720" marB="45720">
                    <a:solidFill>
                      <a:srgbClr val="DCEB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Two-replica scale-out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Place an independent Riva replica on the second H100 and load-balance concurrent requests.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Report per-GPU and aggregate scaling, GPU memory, and c256 tail latency.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P3</a:t>
                      </a:r>
                    </a:p>
                  </a:txBody>
                  <a:tcPr marL="91440" marR="91440" marT="45720" marB="45720">
                    <a:solidFill>
                      <a:srgbClr val="DCEB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Precision and graph capture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Evaluate FP8 or INT8 engines and CUDA graphs for stable input shapes.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Require per-language WER, exact regression sets, finite outputs, and memory headroom.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P4</a:t>
                      </a:r>
                    </a:p>
                  </a:txBody>
                  <a:tcPr marL="91440" marR="91440" marT="45720" marB="45720">
                    <a:solidFill>
                      <a:srgbClr val="DCEB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Production workload tuning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Use length buckets and duration-specific queue settings. Test noise and low-resource languages.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C120C"/>
                          </a:solidFill>
                          <a:latin typeface="NVIDIA Sans"/>
                          <a:ea typeface="NVIDIA Sans"/>
                          <a:cs typeface="NVIDIA Sans"/>
                        </a:rPr>
                        <a:t>Publish SLOs by language and duration with matched audio, batching, and network boundaries.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883C2-D3EE-4721-A765-59B09479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90D0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6F90F-F8B0-4B40-B79F-960744B8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VIDIA Sans"/>
                <a:ea typeface="NVIDIA Sans"/>
                <a:cs typeface="NVIDIA Sans"/>
              </a:defRPr>
            </a:pPr>
            <a:r>
              <a:rPr sz="1200" b="1">
                <a:solidFill>
                  <a:srgbClr val="FFFFFF"/>
                </a:solidFill>
                <a:latin typeface="NVIDIA Sans"/>
                <a:ea typeface="NVIDIA Sans"/>
                <a:cs typeface="NVIDIA Sans"/>
              </a:rPr>
              <a:t>These items are proposed experiments. None represents a measured improvement until the listed quality and performance gates pass.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82D20-723F-47A7-A147-36AB4E59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15B31-5C4E-4640-83DA-86D68277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61"/>
                </a:solidFill>
                <a:latin typeface="NVIDIA Sans"/>
                <a:ea typeface="NVIDIA Sans"/>
                <a:cs typeface="NVIDIA Sans"/>
              </a:defRPr>
            </a:pPr>
            <a:r>
              <a:rPr sz="975" b="0">
                <a:solidFill>
                  <a:srgbClr val="626B61"/>
                </a:solidFill>
                <a:latin typeface="NVIDIA Sans"/>
                <a:ea typeface="NVIDIA Sans"/>
                <a:cs typeface="NVIDIA Sans"/>
              </a:rPr>
              <a:t>Recommended order: fix the short-clip request path, validate a second replica, then evaluate lower precision.</a:t>
            </a:r>
          </a:p>
        </p:txBody>
      </p:sp>
    </p:spTree>
    <p:extLst>
      <p:ext uri="{BB962C8B-B14F-4D97-AF65-F5344CB8AC3E}">
        <p14:creationId xmlns:p14="http://schemas.microsoft.com/office/powerpoint/2010/main" val="1303657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2026-09-10T07:36:24.2930000Z</dcterms:created>
  <dcterms:modified xsi:type="dcterms:W3CDTF">2026-09-10T07:36:24.2930000Z</dcterms:modified>
</coreProperties>
</file>